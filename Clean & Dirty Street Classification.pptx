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12192000"/>
  <p:notesSz cx="6858000" cy="9144000"/>
  <p:embeddedFontLst>
    <p:embeddedFont>
      <p:font typeface="DM Sans"/>
      <p:regular r:id="rId25"/>
      <p:bold r:id="rId26"/>
      <p:italic r:id="rId27"/>
      <p:boldItalic r:id="rId28"/>
    </p:embeddedFont>
    <p:embeddedFont>
      <p:font typeface="Merriweather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6EB5FEA-C1E4-47F6-A5D9-A03CF5502F1B}">
  <a:tblStyle styleId="{B6EB5FEA-C1E4-47F6-A5D9-A03CF5502F1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DMSans-bold.fntdata"/><Relationship Id="rId25" Type="http://schemas.openxmlformats.org/officeDocument/2006/relationships/font" Target="fonts/DMSans-regular.fntdata"/><Relationship Id="rId28" Type="http://schemas.openxmlformats.org/officeDocument/2006/relationships/font" Target="fonts/DMSans-boldItalic.fntdata"/><Relationship Id="rId27" Type="http://schemas.openxmlformats.org/officeDocument/2006/relationships/font" Target="fonts/DMSans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erriweather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erriweather-italic.fntdata"/><Relationship Id="rId30" Type="http://schemas.openxmlformats.org/officeDocument/2006/relationships/font" Target="fonts/Merriweather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Merriweather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7.png"/><Relationship Id="rId5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15.png"/><Relationship Id="rId6" Type="http://schemas.openxmlformats.org/officeDocument/2006/relationships/image" Target="../media/image3.png"/><Relationship Id="rId7" Type="http://schemas.openxmlformats.org/officeDocument/2006/relationships/image" Target="../media/image16.png"/><Relationship Id="rId8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21.png"/><Relationship Id="rId5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6.png"/><Relationship Id="rId4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1.png"/><Relationship Id="rId4" Type="http://schemas.openxmlformats.org/officeDocument/2006/relationships/image" Target="../media/image39.png"/><Relationship Id="rId5" Type="http://schemas.openxmlformats.org/officeDocument/2006/relationships/image" Target="../media/image32.png"/><Relationship Id="rId6" Type="http://schemas.openxmlformats.org/officeDocument/2006/relationships/image" Target="../media/image43.png"/><Relationship Id="rId7" Type="http://schemas.openxmlformats.org/officeDocument/2006/relationships/image" Target="../media/image35.png"/><Relationship Id="rId8" Type="http://schemas.openxmlformats.org/officeDocument/2006/relationships/image" Target="../media/image5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9.png"/><Relationship Id="rId4" Type="http://schemas.openxmlformats.org/officeDocument/2006/relationships/image" Target="../media/image34.png"/><Relationship Id="rId5" Type="http://schemas.openxmlformats.org/officeDocument/2006/relationships/image" Target="../media/image25.png"/><Relationship Id="rId6" Type="http://schemas.openxmlformats.org/officeDocument/2006/relationships/image" Target="../media/image27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15.png"/><Relationship Id="rId6" Type="http://schemas.openxmlformats.org/officeDocument/2006/relationships/image" Target="../media/image30.png"/><Relationship Id="rId7" Type="http://schemas.openxmlformats.org/officeDocument/2006/relationships/image" Target="../media/image48.png"/><Relationship Id="rId8" Type="http://schemas.openxmlformats.org/officeDocument/2006/relationships/image" Target="../media/image3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2.png"/><Relationship Id="rId4" Type="http://schemas.openxmlformats.org/officeDocument/2006/relationships/image" Target="../media/image4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9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33937" y="4908202"/>
            <a:ext cx="2524125" cy="47431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809750" y="1665982"/>
            <a:ext cx="8572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DEEP LEARNING PROJECT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595437" y="2161282"/>
            <a:ext cx="9001125" cy="1462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Clean &amp; Dirty Street Image Classification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809750" y="3910012"/>
            <a:ext cx="85725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 MobileNetV2-Based Cleanliness Monitoring System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833937" y="5108227"/>
            <a:ext cx="25241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Your Name | Organization | 2024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226915"/>
            <a:ext cx="53340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476250" y="476250"/>
            <a:ext cx="11715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Problem Statement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476250" y="2486917"/>
            <a:ext cx="56007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97316"/>
                </a:solidFill>
                <a:latin typeface="Merriweather"/>
                <a:ea typeface="Merriweather"/>
                <a:cs typeface="Merriweather"/>
                <a:sym typeface="Merriweather"/>
              </a:rPr>
              <a:t>The Challenge</a:t>
            </a:r>
            <a:endParaRPr/>
          </a:p>
        </p:txBody>
      </p:sp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226915"/>
            <a:ext cx="53340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1000125" y="3043088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Manual Monitoring: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Current methods are slow, labor-intensive, and inconsistent.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000125" y="3795563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Scalability Issues: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Municipal bodies struggle to cover large city areas in real-time.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000125" y="4548038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Objective: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Build an automated classifier to instantly label street images as "Clean" or "Dirty".</a:t>
            </a:r>
            <a:endParaRPr/>
          </a:p>
        </p:txBody>
      </p:sp>
      <p:pic>
        <p:nvPicPr>
          <p:cNvPr descr="image.png" id="100" name="Google Shape;1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304308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379556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4548038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2448520"/>
            <a:ext cx="3555950" cy="28903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17950" y="2448520"/>
            <a:ext cx="3555950" cy="28903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59650" y="2448520"/>
            <a:ext cx="3555950" cy="2890391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476250" y="476250"/>
            <a:ext cx="11715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Project Motivation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1369040" y="3534370"/>
            <a:ext cx="1770221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Smart City Mission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771525" y="3938736"/>
            <a:ext cx="2965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Aligns with national initiatives like Swachh Bharat for cleaner, smarter urban living.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5625792" y="3534370"/>
            <a:ext cx="940117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Efficiency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4613225" y="3938736"/>
            <a:ext cx="2965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Drastically reduces the human effort required for daily city-wide inspections.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9382482" y="3534370"/>
            <a:ext cx="1110138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Automation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454925" y="3938736"/>
            <a:ext cx="2965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Enables integration with CCTVs and mobile apps for 24/7 automated reporting.</a:t>
            </a:r>
            <a:endParaRPr/>
          </a:p>
        </p:txBody>
      </p:sp>
      <p:pic>
        <p:nvPicPr>
          <p:cNvPr descr="image.png" id="117" name="Google Shape;11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68400" y="2800945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101" y="2800945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80376" y="2800945"/>
            <a:ext cx="51435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6"/>
          <p:cNvSpPr txBox="1"/>
          <p:nvPr/>
        </p:nvSpPr>
        <p:spPr>
          <a:xfrm>
            <a:off x="571500" y="571500"/>
            <a:ext cx="52006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Dataset Overview</a:t>
            </a:r>
            <a:endParaRPr/>
          </a:p>
        </p:txBody>
      </p:sp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571500" y="169158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Kaggle Road Classification Dataset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571500" y="256788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Volume: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~1,000+ High-Res Images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571500" y="344418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Classes: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571500" y="559683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Preprocessing: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762000" y="4129980"/>
            <a:ext cx="4762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Clean Roads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762000" y="4577655"/>
            <a:ext cx="4762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Dirty/Littered Roads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695325" y="628263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762000" y="6282630"/>
            <a:ext cx="4762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Resized to 224 × 224 pixels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695325" y="6730305"/>
            <a:ext cx="66675" cy="1276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762000" y="6730305"/>
            <a:ext cx="4762500" cy="1276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Normalized (ImageNet Mean/Std)</a:t>
            </a:r>
            <a:endParaRPr/>
          </a:p>
        </p:txBody>
      </p:sp>
      <p:pic>
        <p:nvPicPr>
          <p:cNvPr descr="image.png" id="136" name="Google Shape;13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18713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634805"/>
            <a:ext cx="142875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" name="Google Shape;14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2226915"/>
            <a:ext cx="53340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4852243"/>
            <a:ext cx="5334000" cy="77331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476250" y="476250"/>
            <a:ext cx="11715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System Architecture: MobileNetV2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6381750" y="2161877"/>
            <a:ext cx="5600700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Model Pipeline</a:t>
            </a:r>
            <a:endParaRPr/>
          </a:p>
        </p:txBody>
      </p:sp>
      <p:pic>
        <p:nvPicPr>
          <p:cNvPr descr="image.png" id="146" name="Google Shape;14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322165"/>
            <a:ext cx="5143500" cy="314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6667500" y="2566243"/>
            <a:ext cx="95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1.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6762750" y="2566243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Input: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224x224 RGB Image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6610350" y="3013918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2.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6762750" y="3013918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Backbone: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MobileNetV2 (Pre-trained on ImageNet)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6610350" y="3461593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3.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6762750" y="3461593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Feature Extraction: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Global Average Pooling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6610350" y="3909268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4.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6762750" y="3909268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Classification Head: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Dense Layer (Softmax)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6610350" y="4356943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5.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6762750" y="4356943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Output: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Probability (Clean vs. Dirty)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6524625" y="4995118"/>
            <a:ext cx="50482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Why MobileNetV2?</a:t>
            </a:r>
            <a:r>
              <a:rPr b="0" i="0" lang="en-US" sz="12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Lightweight and optimized for edge devices like Raspberry Pi.</a:t>
            </a:r>
            <a:endParaRPr/>
          </a:p>
        </p:txBody>
      </p:sp>
      <p:pic>
        <p:nvPicPr>
          <p:cNvPr descr="image.png" id="158" name="Google Shape;15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24625" y="5033218"/>
            <a:ext cx="1333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2300882"/>
            <a:ext cx="5476875" cy="31856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300882"/>
            <a:ext cx="5476875" cy="3185666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476250" y="476250"/>
            <a:ext cx="11715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Training Configuration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771525" y="2596157"/>
            <a:ext cx="1630203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Hyperparameters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6534150" y="2596157"/>
            <a:ext cx="2260282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Environment &amp; Strategy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1295400" y="2952898"/>
            <a:ext cx="298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Optimizer: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Adam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1295400" y="3400573"/>
            <a:ext cx="298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Learning Rate: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0.0001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1295400" y="3848248"/>
            <a:ext cx="298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Batch Size: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32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1295400" y="4295923"/>
            <a:ext cx="298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Epochs: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50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1295400" y="4743598"/>
            <a:ext cx="298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Loss Function: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CrossEntropyLoss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7058025" y="2952898"/>
            <a:ext cx="384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Weights: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Pre-trained on ImageNet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7058025" y="3400573"/>
            <a:ext cx="384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Regularization: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Early Stopping (Patience=5)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7058025" y="3848248"/>
            <a:ext cx="384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Hardware: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NVIDIA GPU (T4/P100)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7058025" y="4295923"/>
            <a:ext cx="384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Framework: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TensorFlow / PyTorch</a:t>
            </a:r>
            <a:endParaRPr/>
          </a:p>
        </p:txBody>
      </p:sp>
      <p:pic>
        <p:nvPicPr>
          <p:cNvPr descr="image.png" id="177" name="Google Shape;17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295289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340057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384824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429592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474359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24650" y="295289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24650" y="340057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24650" y="384824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24650" y="4295923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1405830"/>
            <a:ext cx="11239500" cy="4975919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9"/>
          <p:cNvSpPr txBox="1"/>
          <p:nvPr/>
        </p:nvSpPr>
        <p:spPr>
          <a:xfrm>
            <a:off x="476250" y="476250"/>
            <a:ext cx="11715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Training Results: Accuracy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476250" y="5694015"/>
            <a:ext cx="11239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Model converged rapidly, reaching stable validation accuracy &gt; 98% with minimal overfitting.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1405830"/>
            <a:ext cx="11239500" cy="497591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0"/>
          <p:cNvSpPr txBox="1"/>
          <p:nvPr/>
        </p:nvSpPr>
        <p:spPr>
          <a:xfrm>
            <a:off x="476250" y="476250"/>
            <a:ext cx="11715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Training Results: Loss Curve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476250" y="5694015"/>
            <a:ext cx="11239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Steady decrease in loss function indicates effective learning without significant divergence.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4" name="Google Shape;20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0200" y="2229891"/>
            <a:ext cx="8991600" cy="1860946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1"/>
          <p:cNvSpPr txBox="1"/>
          <p:nvPr/>
        </p:nvSpPr>
        <p:spPr>
          <a:xfrm>
            <a:off x="476250" y="476250"/>
            <a:ext cx="11715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Confusion Matrix</a:t>
            </a:r>
            <a:endParaRPr/>
          </a:p>
        </p:txBody>
      </p:sp>
      <p:graphicFrame>
        <p:nvGraphicFramePr>
          <p:cNvPr id="206" name="Google Shape;206;p21"/>
          <p:cNvGraphicFramePr/>
          <p:nvPr/>
        </p:nvGraphicFramePr>
        <p:xfrm>
          <a:off x="1600200" y="22298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{B6EB5FEA-C1E4-47F6-A5D9-A03CF5502F1B}</a:tableStyleId>
              </a:tblPr>
              <a:tblGrid>
                <a:gridCol w="2697350"/>
                <a:gridCol w="3215425"/>
                <a:gridCol w="3078800"/>
              </a:tblGrid>
              <a:tr h="620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Predicted Clean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Predicted Dirty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0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Actual Clean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19 </a:t>
                      </a:r>
                      <a:r>
                        <a:rPr b="0" i="0" lang="en-US" sz="1800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(TP)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 </a:t>
                      </a:r>
                      <a:r>
                        <a:rPr b="0" i="0" lang="en-US" sz="1800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(FN)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E2E2"/>
                    </a:solidFill>
                  </a:tcPr>
                </a:tc>
              </a:tr>
              <a:tr h="620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Actual Dirty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 </a:t>
                      </a:r>
                      <a:r>
                        <a:rPr b="0" i="0" lang="en-US" sz="1800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(FP)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26 </a:t>
                      </a:r>
                      <a:r>
                        <a:rPr b="0" i="0" lang="en-US" sz="1800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(TN)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207" name="Google Shape;207;p21"/>
          <p:cNvSpPr txBox="1"/>
          <p:nvPr/>
        </p:nvSpPr>
        <p:spPr>
          <a:xfrm>
            <a:off x="476250" y="4567088"/>
            <a:ext cx="11239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Total Test Samples: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47  | 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Errors: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2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476250" y="5062388"/>
            <a:ext cx="11239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High accuracy achieved with minimal misclassification between classes.</a:t>
            </a:r>
            <a:endParaRPr/>
          </a:p>
        </p:txBody>
      </p:sp>
      <p:sp>
        <p:nvSpPr>
          <p:cNvPr id="209" name="Google Shape;209;p21"/>
          <p:cNvSpPr/>
          <p:nvPr/>
        </p:nvSpPr>
        <p:spPr>
          <a:xfrm>
            <a:off x="1600200" y="2754659"/>
            <a:ext cx="269736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4297560" y="2754659"/>
            <a:ext cx="321543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7512992" y="2754659"/>
            <a:ext cx="307880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1600200" y="3415605"/>
            <a:ext cx="269736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4297560" y="3415605"/>
            <a:ext cx="321543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7512992" y="3415605"/>
            <a:ext cx="307880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1600200" y="4076551"/>
            <a:ext cx="269736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4297560" y="4076551"/>
            <a:ext cx="321543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7512992" y="4076551"/>
            <a:ext cx="307880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1405830"/>
            <a:ext cx="11239500" cy="4975919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2"/>
          <p:cNvSpPr txBox="1"/>
          <p:nvPr/>
        </p:nvSpPr>
        <p:spPr>
          <a:xfrm>
            <a:off x="476250" y="476250"/>
            <a:ext cx="11715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Classification Metrics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476250" y="5153917"/>
            <a:ext cx="11239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Both classes exhibit F1-scores &gt; 0.95, demonstrating that the model is unbiased and robust.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3"/>
          <p:cNvSpPr txBox="1"/>
          <p:nvPr/>
        </p:nvSpPr>
        <p:spPr>
          <a:xfrm>
            <a:off x="571500" y="746819"/>
            <a:ext cx="52006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Streamlit Deployment</a:t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571500" y="241548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 user-friendly web interface was built to demonstrate real-time inference.</a:t>
            </a:r>
            <a:endParaRPr/>
          </a:p>
        </p:txBody>
      </p:sp>
      <p:pic>
        <p:nvPicPr>
          <p:cNvPr descr="image.png" id="231" name="Google Shape;2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3"/>
          <p:cNvSpPr txBox="1"/>
          <p:nvPr/>
        </p:nvSpPr>
        <p:spPr>
          <a:xfrm>
            <a:off x="1095375" y="3406080"/>
            <a:ext cx="4429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Image Upload: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Simple drag-and-drop interface.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1095375" y="3853755"/>
            <a:ext cx="44291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Real-time Inference: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Sub-second prediction time.</a:t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1095375" y="4606230"/>
            <a:ext cx="44291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Confidence Score: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Displays probability percentage.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1095375" y="5358705"/>
            <a:ext cx="44291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Visual Feedback: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Instant "Clean" (Green) or "Dirty" (Red) status.</a:t>
            </a:r>
            <a:endParaRPr/>
          </a:p>
        </p:txBody>
      </p:sp>
      <p:pic>
        <p:nvPicPr>
          <p:cNvPr descr="image.png" id="236" name="Google Shape;23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40608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85375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60623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5358705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4" name="Google Shape;24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2222152"/>
            <a:ext cx="3555950" cy="3343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17950" y="2222152"/>
            <a:ext cx="3555950" cy="3343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59650" y="2222152"/>
            <a:ext cx="3555950" cy="3343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2517427"/>
            <a:ext cx="296540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13225" y="2517427"/>
            <a:ext cx="296540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4"/>
          <p:cNvSpPr txBox="1"/>
          <p:nvPr/>
        </p:nvSpPr>
        <p:spPr>
          <a:xfrm>
            <a:off x="476250" y="476250"/>
            <a:ext cx="11715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Explainability: Grad-CAM</a:t>
            </a:r>
            <a:endParaRPr/>
          </a:p>
        </p:txBody>
      </p:sp>
      <p:sp>
        <p:nvSpPr>
          <p:cNvPr id="250" name="Google Shape;250;p24"/>
          <p:cNvSpPr txBox="1"/>
          <p:nvPr/>
        </p:nvSpPr>
        <p:spPr>
          <a:xfrm>
            <a:off x="1634073" y="5041552"/>
            <a:ext cx="124015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Input Image</a:t>
            </a:r>
            <a:endParaRPr/>
          </a:p>
        </p:txBody>
      </p:sp>
      <p:sp>
        <p:nvSpPr>
          <p:cNvPr id="251" name="Google Shape;251;p24"/>
          <p:cNvSpPr txBox="1"/>
          <p:nvPr/>
        </p:nvSpPr>
        <p:spPr>
          <a:xfrm>
            <a:off x="5230743" y="5041552"/>
            <a:ext cx="173021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Heatmap Overlay</a:t>
            </a:r>
            <a:endParaRPr/>
          </a:p>
        </p:txBody>
      </p:sp>
      <p:pic>
        <p:nvPicPr>
          <p:cNvPr descr="image.png" id="252" name="Google Shape;252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2517427"/>
            <a:ext cx="296540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3225" y="2517427"/>
            <a:ext cx="296540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4"/>
          <p:cNvSpPr txBox="1"/>
          <p:nvPr/>
        </p:nvSpPr>
        <p:spPr>
          <a:xfrm>
            <a:off x="8454925" y="2517427"/>
            <a:ext cx="311367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Insight</a:t>
            </a:r>
            <a:endParaRPr/>
          </a:p>
        </p:txBody>
      </p:sp>
      <p:sp>
        <p:nvSpPr>
          <p:cNvPr id="255" name="Google Shape;255;p24"/>
          <p:cNvSpPr txBox="1"/>
          <p:nvPr/>
        </p:nvSpPr>
        <p:spPr>
          <a:xfrm>
            <a:off x="8454925" y="2963167"/>
            <a:ext cx="2965400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Grad-CAM heatmap highlights the specific regions (garbage piles) that triggered the "Dirty" prediction, confirming the model isn't relying on background noise.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5"/>
          <p:cNvSpPr txBox="1"/>
          <p:nvPr/>
        </p:nvSpPr>
        <p:spPr>
          <a:xfrm>
            <a:off x="476250" y="476250"/>
            <a:ext cx="11715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Performance Summary</a:t>
            </a:r>
            <a:endParaRPr/>
          </a:p>
        </p:txBody>
      </p:sp>
      <p:sp>
        <p:nvSpPr>
          <p:cNvPr id="261" name="Google Shape;261;p25"/>
          <p:cNvSpPr txBox="1"/>
          <p:nvPr/>
        </p:nvSpPr>
        <p:spPr>
          <a:xfrm>
            <a:off x="476250" y="2977455"/>
            <a:ext cx="5143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98%</a:t>
            </a:r>
            <a:endParaRPr/>
          </a:p>
        </p:txBody>
      </p:sp>
      <p:sp>
        <p:nvSpPr>
          <p:cNvPr id="262" name="Google Shape;262;p25"/>
          <p:cNvSpPr txBox="1"/>
          <p:nvPr/>
        </p:nvSpPr>
        <p:spPr>
          <a:xfrm>
            <a:off x="476250" y="4215705"/>
            <a:ext cx="51435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Test Accuracy</a:t>
            </a:r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7096125" y="2765077"/>
            <a:ext cx="4619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High Reliability: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Consistent performance across diverse lighting conditions.</a:t>
            </a:r>
            <a:endParaRPr/>
          </a:p>
        </p:txBody>
      </p:sp>
      <p:sp>
        <p:nvSpPr>
          <p:cNvPr id="264" name="Google Shape;264;p25"/>
          <p:cNvSpPr txBox="1"/>
          <p:nvPr/>
        </p:nvSpPr>
        <p:spPr>
          <a:xfrm>
            <a:off x="7096125" y="3517552"/>
            <a:ext cx="4619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Fast Inference: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MobileNetV2 architecture enables deployment on standard CPUs.</a:t>
            </a:r>
            <a:endParaRPr/>
          </a:p>
        </p:txBody>
      </p:sp>
      <p:sp>
        <p:nvSpPr>
          <p:cNvPr id="265" name="Google Shape;265;p25"/>
          <p:cNvSpPr txBox="1"/>
          <p:nvPr/>
        </p:nvSpPr>
        <p:spPr>
          <a:xfrm>
            <a:off x="7096125" y="4270027"/>
            <a:ext cx="4619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Interpretability: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Integrated Grad-CAM builds trust in automated auditing.</a:t>
            </a:r>
            <a:endParaRPr/>
          </a:p>
        </p:txBody>
      </p:sp>
      <p:pic>
        <p:nvPicPr>
          <p:cNvPr descr="image.png" id="266" name="Google Shape;26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2750" y="276507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2750" y="351755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2750" y="4270027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3" name="Google Shape;27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2448520"/>
            <a:ext cx="3555950" cy="28903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17950" y="2448520"/>
            <a:ext cx="3555950" cy="28903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59650" y="2448520"/>
            <a:ext cx="3555950" cy="2890391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6"/>
          <p:cNvSpPr txBox="1"/>
          <p:nvPr/>
        </p:nvSpPr>
        <p:spPr>
          <a:xfrm>
            <a:off x="476250" y="476250"/>
            <a:ext cx="11715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Limitations</a:t>
            </a:r>
            <a:endParaRPr/>
          </a:p>
        </p:txBody>
      </p:sp>
      <p:sp>
        <p:nvSpPr>
          <p:cNvPr id="277" name="Google Shape;277;p26"/>
          <p:cNvSpPr txBox="1"/>
          <p:nvPr/>
        </p:nvSpPr>
        <p:spPr>
          <a:xfrm>
            <a:off x="771525" y="3534370"/>
            <a:ext cx="1110138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Dataset Size</a:t>
            </a:r>
            <a:endParaRPr/>
          </a:p>
        </p:txBody>
      </p:sp>
      <p:sp>
        <p:nvSpPr>
          <p:cNvPr id="278" name="Google Shape;278;p26"/>
          <p:cNvSpPr txBox="1"/>
          <p:nvPr/>
        </p:nvSpPr>
        <p:spPr>
          <a:xfrm>
            <a:off x="771525" y="3938736"/>
            <a:ext cx="2965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Training data (~1k images) is relatively small, which may limit generalization to unseen cities.</a:t>
            </a:r>
            <a:endParaRPr/>
          </a:p>
        </p:txBody>
      </p:sp>
      <p:sp>
        <p:nvSpPr>
          <p:cNvPr id="279" name="Google Shape;279;p26"/>
          <p:cNvSpPr txBox="1"/>
          <p:nvPr/>
        </p:nvSpPr>
        <p:spPr>
          <a:xfrm>
            <a:off x="4613225" y="3534370"/>
            <a:ext cx="1020127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Conditions</a:t>
            </a:r>
            <a:endParaRPr/>
          </a:p>
        </p:txBody>
      </p:sp>
      <p:sp>
        <p:nvSpPr>
          <p:cNvPr id="280" name="Google Shape;280;p26"/>
          <p:cNvSpPr txBox="1"/>
          <p:nvPr/>
        </p:nvSpPr>
        <p:spPr>
          <a:xfrm>
            <a:off x="4613225" y="3938736"/>
            <a:ext cx="2965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Performance drops in extreme low-light (night) or heavy occlusion scenarios.</a:t>
            </a:r>
            <a:endParaRPr/>
          </a:p>
        </p:txBody>
      </p:sp>
      <p:sp>
        <p:nvSpPr>
          <p:cNvPr id="281" name="Google Shape;281;p26"/>
          <p:cNvSpPr txBox="1"/>
          <p:nvPr/>
        </p:nvSpPr>
        <p:spPr>
          <a:xfrm>
            <a:off x="8454925" y="3534370"/>
            <a:ext cx="1100137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Binary Only</a:t>
            </a:r>
            <a:endParaRPr/>
          </a:p>
        </p:txBody>
      </p:sp>
      <p:sp>
        <p:nvSpPr>
          <p:cNvPr id="282" name="Google Shape;282;p26"/>
          <p:cNvSpPr txBox="1"/>
          <p:nvPr/>
        </p:nvSpPr>
        <p:spPr>
          <a:xfrm>
            <a:off x="8454925" y="3938736"/>
            <a:ext cx="2965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Current model implies a strict Clean/Dirty binary, ignoring "Slightly Dirty" nuances.</a:t>
            </a:r>
            <a:endParaRPr/>
          </a:p>
        </p:txBody>
      </p:sp>
      <p:pic>
        <p:nvPicPr>
          <p:cNvPr descr="image.png" id="283" name="Google Shape;283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2800945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13225" y="2800945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54925" y="2800945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0" name="Google Shape;29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2448520"/>
            <a:ext cx="3555950" cy="28903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17950" y="2448520"/>
            <a:ext cx="3555950" cy="28903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59650" y="2448520"/>
            <a:ext cx="3555950" cy="2890391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7"/>
          <p:cNvSpPr txBox="1"/>
          <p:nvPr/>
        </p:nvSpPr>
        <p:spPr>
          <a:xfrm>
            <a:off x="476250" y="476250"/>
            <a:ext cx="11715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Future Scope</a:t>
            </a:r>
            <a:endParaRPr/>
          </a:p>
        </p:txBody>
      </p:sp>
      <p:sp>
        <p:nvSpPr>
          <p:cNvPr id="294" name="Google Shape;294;p27"/>
          <p:cNvSpPr txBox="1"/>
          <p:nvPr/>
        </p:nvSpPr>
        <p:spPr>
          <a:xfrm>
            <a:off x="1724084" y="3534370"/>
            <a:ext cx="1060132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Multi-class</a:t>
            </a:r>
            <a:endParaRPr/>
          </a:p>
        </p:txBody>
      </p:sp>
      <p:sp>
        <p:nvSpPr>
          <p:cNvPr id="295" name="Google Shape;295;p27"/>
          <p:cNvSpPr txBox="1"/>
          <p:nvPr/>
        </p:nvSpPr>
        <p:spPr>
          <a:xfrm>
            <a:off x="771525" y="3938736"/>
            <a:ext cx="2965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Expand to "Clean", "Littered", "Dump" severity levels.</a:t>
            </a:r>
            <a:endParaRPr/>
          </a:p>
        </p:txBody>
      </p:sp>
      <p:sp>
        <p:nvSpPr>
          <p:cNvPr id="296" name="Google Shape;296;p27"/>
          <p:cNvSpPr txBox="1"/>
          <p:nvPr/>
        </p:nvSpPr>
        <p:spPr>
          <a:xfrm>
            <a:off x="5745807" y="3534370"/>
            <a:ext cx="700087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Edge AI</a:t>
            </a:r>
            <a:endParaRPr/>
          </a:p>
        </p:txBody>
      </p:sp>
      <p:sp>
        <p:nvSpPr>
          <p:cNvPr id="297" name="Google Shape;297;p27"/>
          <p:cNvSpPr txBox="1"/>
          <p:nvPr/>
        </p:nvSpPr>
        <p:spPr>
          <a:xfrm>
            <a:off x="4613225" y="3938736"/>
            <a:ext cx="2965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Deploy on Raspberry Pi/Jetson for decentralized monitoring.</a:t>
            </a:r>
            <a:endParaRPr/>
          </a:p>
        </p:txBody>
      </p:sp>
      <p:sp>
        <p:nvSpPr>
          <p:cNvPr id="298" name="Google Shape;298;p27"/>
          <p:cNvSpPr txBox="1"/>
          <p:nvPr/>
        </p:nvSpPr>
        <p:spPr>
          <a:xfrm>
            <a:off x="9347477" y="3534370"/>
            <a:ext cx="1180147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Live Pipeline</a:t>
            </a:r>
            <a:endParaRPr/>
          </a:p>
        </p:txBody>
      </p:sp>
      <p:sp>
        <p:nvSpPr>
          <p:cNvPr id="299" name="Google Shape;299;p27"/>
          <p:cNvSpPr txBox="1"/>
          <p:nvPr/>
        </p:nvSpPr>
        <p:spPr>
          <a:xfrm>
            <a:off x="8454925" y="3938736"/>
            <a:ext cx="2965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Integrate with city CCTV networks for real-time dashboards.</a:t>
            </a:r>
            <a:endParaRPr/>
          </a:p>
        </p:txBody>
      </p:sp>
      <p:pic>
        <p:nvPicPr>
          <p:cNvPr descr="image.png" id="300" name="Google Shape;300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96975" y="2800945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1" name="Google Shape;301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67251" y="280094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2" name="Google Shape;302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51801" y="2800945"/>
            <a:ext cx="5715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8"/>
          <p:cNvSpPr/>
          <p:nvPr/>
        </p:nvSpPr>
        <p:spPr>
          <a:xfrm>
            <a:off x="5619750" y="1983134"/>
            <a:ext cx="9525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8"/>
          <p:cNvSpPr txBox="1"/>
          <p:nvPr/>
        </p:nvSpPr>
        <p:spPr>
          <a:xfrm>
            <a:off x="1595437" y="2402234"/>
            <a:ext cx="90011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Conclusion</a:t>
            </a:r>
            <a:endParaRPr/>
          </a:p>
        </p:txBody>
      </p:sp>
      <p:sp>
        <p:nvSpPr>
          <p:cNvPr id="309" name="Google Shape;309;p28"/>
          <p:cNvSpPr txBox="1"/>
          <p:nvPr/>
        </p:nvSpPr>
        <p:spPr>
          <a:xfrm>
            <a:off x="1809750" y="3327945"/>
            <a:ext cx="8572500" cy="1280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We successfully built a </a:t>
            </a:r>
            <a:r>
              <a:rPr b="1" i="0" lang="en-US" sz="21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robust, explainable, and scalable</a:t>
            </a:r>
            <a:r>
              <a:rPr b="0" i="0" lang="en-US" sz="21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cleanliness classifier. This system serves as a foundational step towards automated, AI-driven Smart City management.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9"/>
          <p:cNvSpPr txBox="1"/>
          <p:nvPr/>
        </p:nvSpPr>
        <p:spPr>
          <a:xfrm>
            <a:off x="3940730" y="1988790"/>
            <a:ext cx="431053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Questions?</a:t>
            </a:r>
            <a:endParaRPr/>
          </a:p>
        </p:txBody>
      </p:sp>
      <p:sp>
        <p:nvSpPr>
          <p:cNvPr id="315" name="Google Shape;315;p29"/>
          <p:cNvSpPr txBox="1"/>
          <p:nvPr/>
        </p:nvSpPr>
        <p:spPr>
          <a:xfrm>
            <a:off x="4043362" y="3131790"/>
            <a:ext cx="41052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Thank you for your attention.</a:t>
            </a:r>
            <a:endParaRPr/>
          </a:p>
        </p:txBody>
      </p:sp>
      <p:sp>
        <p:nvSpPr>
          <p:cNvPr id="316" name="Google Shape;316;p29"/>
          <p:cNvSpPr txBox="1"/>
          <p:nvPr/>
        </p:nvSpPr>
        <p:spPr>
          <a:xfrm>
            <a:off x="4043362" y="3878460"/>
            <a:ext cx="41052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contact@example.com</a:t>
            </a:r>
            <a:endParaRPr/>
          </a:p>
        </p:txBody>
      </p:sp>
      <p:sp>
        <p:nvSpPr>
          <p:cNvPr id="317" name="Google Shape;317;p29"/>
          <p:cNvSpPr txBox="1"/>
          <p:nvPr/>
        </p:nvSpPr>
        <p:spPr>
          <a:xfrm>
            <a:off x="4043362" y="4373760"/>
            <a:ext cx="41052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github.com/your-repo</a:t>
            </a:r>
            <a:endParaRPr/>
          </a:p>
        </p:txBody>
      </p:sp>
      <p:pic>
        <p:nvPicPr>
          <p:cNvPr descr="image.png" id="318" name="Google Shape;31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00" y="393561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9" name="Google Shape;31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95862" y="4430910"/>
            <a:ext cx="180975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0"/>
          <p:cNvSpPr txBox="1"/>
          <p:nvPr/>
        </p:nvSpPr>
        <p:spPr>
          <a:xfrm>
            <a:off x="476250" y="476250"/>
            <a:ext cx="11715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  <p:sp>
        <p:nvSpPr>
          <p:cNvPr id="325" name="Google Shape;325;p30"/>
          <p:cNvSpPr/>
          <p:nvPr/>
        </p:nvSpPr>
        <p:spPr>
          <a:xfrm>
            <a:off x="476250" y="2612826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0"/>
          <p:cNvSpPr/>
          <p:nvPr/>
        </p:nvSpPr>
        <p:spPr>
          <a:xfrm>
            <a:off x="476250" y="3595687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0"/>
          <p:cNvSpPr/>
          <p:nvPr/>
        </p:nvSpPr>
        <p:spPr>
          <a:xfrm>
            <a:off x="476250" y="4380458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0"/>
          <p:cNvSpPr/>
          <p:nvPr/>
        </p:nvSpPr>
        <p:spPr>
          <a:xfrm>
            <a:off x="476250" y="5165228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29" name="Google Shape;32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198700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30"/>
          <p:cNvSpPr txBox="1"/>
          <p:nvPr/>
        </p:nvSpPr>
        <p:spPr>
          <a:xfrm>
            <a:off x="1571625" y="1980455"/>
            <a:ext cx="101441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https://preview.redd.it/c78tqoexllv71.jpg?width=640&amp;crop=smart&amp;auto=webp&amp;s=e27d11b54d81c07a54301f8f7dbc1741545da058</a:t>
            </a:r>
            <a:endParaRPr/>
          </a:p>
        </p:txBody>
      </p:sp>
      <p:sp>
        <p:nvSpPr>
          <p:cNvPr id="331" name="Google Shape;331;p30"/>
          <p:cNvSpPr txBox="1"/>
          <p:nvPr/>
        </p:nvSpPr>
        <p:spPr>
          <a:xfrm>
            <a:off x="1571625" y="2226171"/>
            <a:ext cx="101441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www.reddit.com</a:t>
            </a:r>
            <a:endParaRPr/>
          </a:p>
        </p:txBody>
      </p:sp>
      <p:pic>
        <p:nvPicPr>
          <p:cNvPr descr="image.png" id="332" name="Google Shape;33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287089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 txBox="1"/>
          <p:nvPr/>
        </p:nvSpPr>
        <p:spPr>
          <a:xfrm>
            <a:off x="1571625" y="2765226"/>
            <a:ext cx="101441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https://static.vecteezy.com/system/resources/thumbnails/070/780/646/small/asphalt-road-under-a-sunny-blue-sky-clean-pavement-and-open-horizon-on-a-bright-day-photo.jpeg</a:t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1571625" y="3209032"/>
            <a:ext cx="101441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www.vecteezy.com</a:t>
            </a:r>
            <a:endParaRPr/>
          </a:p>
        </p:txBody>
      </p:sp>
      <p:pic>
        <p:nvPicPr>
          <p:cNvPr descr="image.png" id="335" name="Google Shape;335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" y="375463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0"/>
          <p:cNvSpPr txBox="1"/>
          <p:nvPr/>
        </p:nvSpPr>
        <p:spPr>
          <a:xfrm>
            <a:off x="1571625" y="3748087"/>
            <a:ext cx="101441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https://1.bp.blogspot.com/-M8UvZJWNW4E/WsKk-tbzp8I/AAAAAAAAChw/OqxBVPbDygMIQWGug4ZnHNDvuyK5FBMcQCLcBGAs/s1600/image5.png</a:t>
            </a:r>
            <a:endParaRPr/>
          </a:p>
        </p:txBody>
      </p:sp>
      <p:sp>
        <p:nvSpPr>
          <p:cNvPr id="337" name="Google Shape;337;p30"/>
          <p:cNvSpPr txBox="1"/>
          <p:nvPr/>
        </p:nvSpPr>
        <p:spPr>
          <a:xfrm>
            <a:off x="1571625" y="3993802"/>
            <a:ext cx="101441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research.google</a:t>
            </a:r>
            <a:endParaRPr/>
          </a:p>
        </p:txBody>
      </p:sp>
      <p:pic>
        <p:nvPicPr>
          <p:cNvPr descr="image.png" id="338" name="Google Shape;338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453940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/>
        </p:nvSpPr>
        <p:spPr>
          <a:xfrm>
            <a:off x="1571625" y="4532858"/>
            <a:ext cx="101441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https://global.discourse-cdn.com/streamlit/optimized/2X/f/f9989b3e116db857aa99dc2b8c52465727663d52_2_690x402.jpeg</a:t>
            </a:r>
            <a:endParaRPr/>
          </a:p>
        </p:txBody>
      </p:sp>
      <p:sp>
        <p:nvSpPr>
          <p:cNvPr id="340" name="Google Shape;340;p30"/>
          <p:cNvSpPr txBox="1"/>
          <p:nvPr/>
        </p:nvSpPr>
        <p:spPr>
          <a:xfrm>
            <a:off x="1571625" y="4778573"/>
            <a:ext cx="101441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discuss.streamlit.io</a:t>
            </a:r>
            <a:endParaRPr/>
          </a:p>
        </p:txBody>
      </p:sp>
      <p:pic>
        <p:nvPicPr>
          <p:cNvPr descr="image.png" id="341" name="Google Shape;341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6250" y="532417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30"/>
          <p:cNvSpPr txBox="1"/>
          <p:nvPr/>
        </p:nvSpPr>
        <p:spPr>
          <a:xfrm>
            <a:off x="1571625" y="5317628"/>
            <a:ext cx="101441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https://av-eks-lekhak.s3.amazonaws.com/media/__sized__/article_images/Screenshot_198-thumbnail_webp-600x300.webp</a:t>
            </a:r>
            <a:endParaRPr/>
          </a:p>
        </p:txBody>
      </p:sp>
      <p:sp>
        <p:nvSpPr>
          <p:cNvPr id="343" name="Google Shape;343;p30"/>
          <p:cNvSpPr txBox="1"/>
          <p:nvPr/>
        </p:nvSpPr>
        <p:spPr>
          <a:xfrm>
            <a:off x="1571625" y="5563344"/>
            <a:ext cx="101441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www.analyticsvidhya.com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